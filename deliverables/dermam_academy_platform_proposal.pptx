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4402"/>
          </a:solidFill>
          <a:ln>
            <a:solidFill>
              <a:srgbClr val="FF44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mpathoai-master-logo-light-tr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75488"/>
            <a:ext cx="1783080" cy="2837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828800"/>
            <a:ext cx="40233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FF4402"/>
                </a:solidFill>
                <a:latin typeface="IBM Plex Sans"/>
              </a:rPr>
              <a:t>PROPUESTA DE 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12848"/>
            <a:ext cx="8046720" cy="12344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700" b="1" i="0">
                <a:solidFill>
                  <a:srgbClr val="0A0A0B"/>
                </a:solidFill>
                <a:latin typeface="IBM Plex Sans"/>
              </a:rPr>
              <a:t>Una academia más simple
para crecer con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767328"/>
            <a:ext cx="5989320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0" i="0">
                <a:solidFill>
                  <a:srgbClr val="666668"/>
                </a:solidFill>
                <a:latin typeface="IBM Plex Sans"/>
              </a:rPr>
              <a:t>Reemplazo de la infraestructura WordPress actual
por una experiencia educativa y comercial más estable.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508760"/>
            <a:ext cx="2926080" cy="2926080"/>
          </a:xfrm>
          <a:prstGeom prst="rect">
            <a:avLst/>
          </a:prstGeom>
          <a:solidFill>
            <a:srgbClr val="FFF0EB"/>
          </a:solidFill>
          <a:ln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66760" y="1938528"/>
            <a:ext cx="2057400" cy="2057400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11512" y="3383280"/>
            <a:ext cx="612648" cy="612648"/>
          </a:xfrm>
          <a:prstGeom prst="rect">
            <a:avLst/>
          </a:prstGeom>
          <a:solidFill>
            <a:srgbClr val="FF4402"/>
          </a:solidFill>
          <a:ln>
            <a:solidFill>
              <a:srgbClr val="FF44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395728"/>
            <a:ext cx="146304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IBM Plex Sans"/>
              </a:rPr>
              <a:t>DERMA.M
ACADEMY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5870448"/>
            <a:ext cx="3474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2D2D2F"/>
                </a:solidFill>
                <a:latin typeface="IBM Plex Sans"/>
              </a:rPr>
              <a:t>Presentado por EmpathoAI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6126480"/>
            <a:ext cx="20116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666668"/>
                </a:solidFill>
                <a:latin typeface="IBM Plex Sans"/>
              </a:rPr>
              <a:t>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pathoai-master-logo-light-tr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2608"/>
            <a:ext cx="1389888" cy="221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35440" y="356616"/>
            <a:ext cx="2331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850" b="1" i="0">
                <a:solidFill>
                  <a:srgbClr val="FF4402"/>
                </a:solidFill>
                <a:latin typeface="IBM Plex Sans"/>
              </a:rPr>
              <a:t>01 / 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 i="0">
                <a:solidFill>
                  <a:srgbClr val="0A0A0B"/>
                </a:solidFill>
                <a:latin typeface="IBM Plex Sans"/>
              </a:rPr>
              <a:t>El problema no es el contenido. Es la 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881360" cy="10972"/>
          </a:xfrm>
          <a:prstGeom prst="rect">
            <a:avLst/>
          </a:prstGeom>
          <a:solidFill>
            <a:srgbClr val="E5E5EA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666668"/>
                </a:solidFill>
                <a:latin typeface="IBM Plex Sans"/>
              </a:rPr>
              <a:t>DERMA.M ACADEMY  / 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473952"/>
            <a:ext cx="299923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 i="0">
                <a:solidFill>
                  <a:srgbClr val="666668"/>
                </a:solidFill>
                <a:latin typeface="IBM Plex Sans"/>
              </a:rPr>
              <a:t>HUMAN DEPTH. MACHINE LEVERAGE.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01952"/>
            <a:ext cx="101498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0" i="0">
                <a:solidFill>
                  <a:srgbClr val="666668"/>
                </a:solidFill>
                <a:latin typeface="IBM Plex Sans"/>
              </a:rPr>
              <a:t>La academia actual depende de WordPress y una acumulación de plugins. Eso aumenta la fricción, el mantenimiento y el riesgo operativo.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2761488"/>
            <a:ext cx="3429000" cy="2084831"/>
          </a:xfrm>
          <a:prstGeom prst="rect">
            <a:avLst/>
          </a:prstGeom>
          <a:solidFill>
            <a:srgbClr val="F7F7F5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" y="2761488"/>
            <a:ext cx="54864" cy="2084831"/>
          </a:xfrm>
          <a:prstGeom prst="rect">
            <a:avLst/>
          </a:prstGeom>
          <a:solidFill>
            <a:srgbClr val="FF4402"/>
          </a:solidFill>
          <a:ln>
            <a:solidFill>
              <a:srgbClr val="FF44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944368"/>
            <a:ext cx="30175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0A0A0B"/>
                </a:solidFill>
                <a:latin typeface="IBM Plex Sans"/>
              </a:rPr>
              <a:t>Mantenimiento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328416"/>
            <a:ext cx="3017520" cy="137159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0" i="0">
                <a:solidFill>
                  <a:srgbClr val="666668"/>
                </a:solidFill>
                <a:latin typeface="IBM Plex Sans"/>
              </a:rPr>
              <a:t>Actualizaciones, compatibilidad y errores consumen tiempo que debería ir a ventas y alumnos.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9976" y="2761488"/>
            <a:ext cx="3429000" cy="2084831"/>
          </a:xfrm>
          <a:prstGeom prst="rect">
            <a:avLst/>
          </a:prstGeom>
          <a:solidFill>
            <a:srgbClr val="F7F7F5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2761488"/>
            <a:ext cx="54864" cy="2084831"/>
          </a:xfrm>
          <a:prstGeom prst="rect">
            <a:avLst/>
          </a:prstGeom>
          <a:solidFill>
            <a:srgbClr val="2D2D2F"/>
          </a:solidFill>
          <a:ln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2944368"/>
            <a:ext cx="30175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0A0A0B"/>
                </a:solidFill>
                <a:latin typeface="IBM Plex Sans"/>
              </a:rPr>
              <a:t>Experiencia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328416"/>
            <a:ext cx="3017520" cy="137159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0" i="0">
                <a:solidFill>
                  <a:srgbClr val="666668"/>
                </a:solidFill>
                <a:latin typeface="IBM Plex Sans"/>
              </a:rPr>
              <a:t>El alumno encuentra una experiencia fragmentada entre registro, pago, acceso y soporte.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2761488"/>
            <a:ext cx="3429000" cy="2084831"/>
          </a:xfrm>
          <a:prstGeom prst="rect">
            <a:avLst/>
          </a:prstGeom>
          <a:solidFill>
            <a:srgbClr val="F7F7F5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2761488"/>
            <a:ext cx="54864" cy="2084831"/>
          </a:xfrm>
          <a:prstGeom prst="rect">
            <a:avLst/>
          </a:prstGeom>
          <a:solidFill>
            <a:srgbClr val="1C7C54"/>
          </a:solidFill>
          <a:ln>
            <a:solidFill>
              <a:srgbClr val="1C7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944368"/>
            <a:ext cx="30175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0A0A0B"/>
                </a:solidFill>
                <a:latin typeface="IBM Plex Sans"/>
              </a:rPr>
              <a:t>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328416"/>
            <a:ext cx="3017520" cy="137159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0" i="0">
                <a:solidFill>
                  <a:srgbClr val="666668"/>
                </a:solidFill>
                <a:latin typeface="IBM Plex Sans"/>
              </a:rPr>
              <a:t>La operación queda atada a una estructura difícil de auditar, transferir y escalar.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" y="5413248"/>
            <a:ext cx="1024128" cy="274320"/>
          </a:xfrm>
          <a:prstGeom prst="rect">
            <a:avLst/>
          </a:prstGeom>
          <a:solidFill>
            <a:srgbClr val="FFF0EB"/>
          </a:solidFill>
          <a:ln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468112"/>
            <a:ext cx="841248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FF4402"/>
                </a:solidFill>
                <a:latin typeface="IBM Plex Sans"/>
              </a:rPr>
              <a:t>PRINCIPIO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5413248"/>
            <a:ext cx="886968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 i="0">
                <a:solidFill>
                  <a:srgbClr val="0A0A0B"/>
                </a:solidFill>
                <a:latin typeface="IBM Plex Sans"/>
              </a:rPr>
              <a:t>No vamos a maquillar el sistema anterior. Vamos a reemplazarlo por una base más limpia.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pathoai-master-logo-light-tr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2608"/>
            <a:ext cx="1389888" cy="221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35440" y="356616"/>
            <a:ext cx="2331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850" b="1" i="0">
                <a:solidFill>
                  <a:srgbClr val="FF4402"/>
                </a:solidFill>
                <a:latin typeface="IBM Plex Sans"/>
              </a:rPr>
              <a:t>02 /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 i="0">
                <a:solidFill>
                  <a:srgbClr val="0A0A0B"/>
                </a:solidFill>
                <a:latin typeface="IBM Plex Sans"/>
              </a:rPr>
              <a:t>Una sola experiencia para vender, enseñar y acompañar.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881360" cy="10972"/>
          </a:xfrm>
          <a:prstGeom prst="rect">
            <a:avLst/>
          </a:prstGeom>
          <a:solidFill>
            <a:srgbClr val="E5E5EA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666668"/>
                </a:solidFill>
                <a:latin typeface="IBM Plex Sans"/>
              </a:rPr>
              <a:t>DERMA.M ACADEMY  / 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473952"/>
            <a:ext cx="299923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 i="0">
                <a:solidFill>
                  <a:srgbClr val="666668"/>
                </a:solidFill>
                <a:latin typeface="IBM Plex Sans"/>
              </a:rPr>
              <a:t>HUMAN DEPTH. MACHINE LEVERAGE.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01952"/>
            <a:ext cx="1005840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0" i="0">
                <a:solidFill>
                  <a:srgbClr val="666668"/>
                </a:solidFill>
                <a:latin typeface="IBM Plex Sans"/>
              </a:rPr>
              <a:t>La nueva academia se construye fuera del WordPress actual, con GHL como centro operativo y Square como procesador de pagos.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2852928"/>
            <a:ext cx="2212848" cy="1664208"/>
          </a:xfrm>
          <a:prstGeom prst="rect">
            <a:avLst/>
          </a:prstGeom>
          <a:solidFill>
            <a:srgbClr val="F7F7F5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" y="2852928"/>
            <a:ext cx="2212848" cy="73152"/>
          </a:xfrm>
          <a:prstGeom prst="rect">
            <a:avLst/>
          </a:prstGeom>
          <a:solidFill>
            <a:srgbClr val="FF4402"/>
          </a:solidFill>
          <a:ln>
            <a:solidFill>
              <a:srgbClr val="FF44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090672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FF4402"/>
                </a:solidFill>
                <a:latin typeface="IBM Plex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456432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0A0A0B"/>
                </a:solidFill>
                <a:latin typeface="IBM Plex Sans"/>
              </a:rPr>
              <a:t>Sitio y funnel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840480"/>
            <a:ext cx="18288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666668"/>
                </a:solidFill>
                <a:latin typeface="IBM Plex Sans"/>
              </a:rPr>
              <a:t>Presentación clara
y conversión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74720"/>
            <a:ext cx="347472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2400" b="1" i="0">
                <a:solidFill>
                  <a:srgbClr val="FF4402"/>
                </a:solidFill>
                <a:latin typeface="IBM Plex Sans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9584" y="2852928"/>
            <a:ext cx="2212848" cy="1664208"/>
          </a:xfrm>
          <a:prstGeom prst="rect">
            <a:avLst/>
          </a:prstGeom>
          <a:solidFill>
            <a:srgbClr val="F7F7F5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9584" y="2852928"/>
            <a:ext cx="2212848" cy="73152"/>
          </a:xfrm>
          <a:prstGeom prst="rect">
            <a:avLst/>
          </a:prstGeom>
          <a:solidFill>
            <a:srgbClr val="2D2D2F"/>
          </a:solidFill>
          <a:ln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94176" y="3090672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FF4402"/>
                </a:solidFill>
                <a:latin typeface="IBM Plex San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4176" y="3456432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0A0A0B"/>
                </a:solidFill>
                <a:latin typeface="IBM Plex Sans"/>
              </a:rPr>
              <a:t>Square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176" y="3840480"/>
            <a:ext cx="18288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666668"/>
                </a:solidFill>
                <a:latin typeface="IBM Plex Sans"/>
              </a:rPr>
              <a:t>Cobro con la
cuenta existente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1304" y="3474720"/>
            <a:ext cx="347472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2400" b="1" i="0">
                <a:solidFill>
                  <a:srgbClr val="FF4402"/>
                </a:solidFill>
                <a:latin typeface="IBM Plex Sans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82512" y="2852928"/>
            <a:ext cx="2212848" cy="1664208"/>
          </a:xfrm>
          <a:prstGeom prst="rect">
            <a:avLst/>
          </a:prstGeom>
          <a:solidFill>
            <a:srgbClr val="F7F7F5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82512" y="2852928"/>
            <a:ext cx="2212848" cy="73152"/>
          </a:xfrm>
          <a:prstGeom prst="rect">
            <a:avLst/>
          </a:prstGeom>
          <a:solidFill>
            <a:srgbClr val="2D2D2F"/>
          </a:solidFill>
          <a:ln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3090672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FF4402"/>
                </a:solidFill>
                <a:latin typeface="IBM Plex San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3456432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0A0A0B"/>
                </a:solidFill>
                <a:latin typeface="IBM Plex Sans"/>
              </a:rPr>
              <a:t>Courses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3840480"/>
            <a:ext cx="18288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666668"/>
                </a:solidFill>
                <a:latin typeface="IBM Plex Sans"/>
              </a:rPr>
              <a:t>Acceso y
contenido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4232" y="3474720"/>
            <a:ext cx="347472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2400" b="1" i="0">
                <a:solidFill>
                  <a:srgbClr val="FF4402"/>
                </a:solidFill>
                <a:latin typeface="IBM Plex Sans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852928"/>
            <a:ext cx="2212848" cy="1664208"/>
          </a:xfrm>
          <a:prstGeom prst="rect">
            <a:avLst/>
          </a:prstGeom>
          <a:solidFill>
            <a:srgbClr val="F7F7F5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2852928"/>
            <a:ext cx="2212848" cy="73152"/>
          </a:xfrm>
          <a:prstGeom prst="rect">
            <a:avLst/>
          </a:prstGeom>
          <a:solidFill>
            <a:srgbClr val="2D2D2F"/>
          </a:solidFill>
          <a:ln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0032" y="3090672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FF4402"/>
                </a:solidFill>
                <a:latin typeface="IBM Plex San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3456432"/>
            <a:ext cx="1828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0A0A0B"/>
                </a:solidFill>
                <a:latin typeface="IBM Plex Sans"/>
              </a:rPr>
              <a:t>CRM + WhatsApp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0032" y="3840480"/>
            <a:ext cx="18288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666668"/>
                </a:solidFill>
                <a:latin typeface="IBM Plex Sans"/>
              </a:rPr>
              <a:t>Seguimiento
y soporte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" y="5212080"/>
            <a:ext cx="1097280" cy="274320"/>
          </a:xfrm>
          <a:prstGeom prst="rect">
            <a:avLst/>
          </a:prstGeom>
          <a:solidFill>
            <a:srgbClr val="FFF0EB"/>
          </a:solidFill>
          <a:ln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266944"/>
            <a:ext cx="91440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FF4402"/>
                </a:solidFill>
                <a:latin typeface="IBM Plex Sans"/>
              </a:rPr>
              <a:t>RESULTADO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5212080"/>
            <a:ext cx="90525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 i="0">
                <a:solidFill>
                  <a:srgbClr val="0A0A0B"/>
                </a:solidFill>
                <a:latin typeface="IBM Plex Sans"/>
              </a:rPr>
              <a:t>Menos piezas. Menos puntos de falla. Más claridad para Derma.M y para sus alumnos.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pathoai-master-logo-light-tr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2608"/>
            <a:ext cx="1389888" cy="221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35440" y="356616"/>
            <a:ext cx="2331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850" b="1" i="0">
                <a:solidFill>
                  <a:srgbClr val="FF4402"/>
                </a:solidFill>
                <a:latin typeface="IBM Plex Sans"/>
              </a:rPr>
              <a:t>03 / 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 i="0">
                <a:solidFill>
                  <a:srgbClr val="0A0A0B"/>
                </a:solidFill>
                <a:latin typeface="IBM Plex Sans"/>
              </a:rPr>
              <a:t>Qué recibe Derma.M.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881360" cy="10972"/>
          </a:xfrm>
          <a:prstGeom prst="rect">
            <a:avLst/>
          </a:prstGeom>
          <a:solidFill>
            <a:srgbClr val="E5E5EA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666668"/>
                </a:solidFill>
                <a:latin typeface="IBM Plex Sans"/>
              </a:rPr>
              <a:t>DERMA.M ACADEMY  / 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473952"/>
            <a:ext cx="299923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 i="0">
                <a:solidFill>
                  <a:srgbClr val="666668"/>
                </a:solidFill>
                <a:latin typeface="IBM Plex Sans"/>
              </a:rPr>
              <a:t>HUMAN DEPTH. MACHINE LEVERAGE.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1975104"/>
            <a:ext cx="5074920" cy="950976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" y="1975104"/>
            <a:ext cx="54864" cy="950976"/>
          </a:xfrm>
          <a:prstGeom prst="rect">
            <a:avLst/>
          </a:prstGeom>
          <a:solidFill>
            <a:srgbClr val="FF4402"/>
          </a:solidFill>
          <a:ln>
            <a:solidFill>
              <a:srgbClr val="FF44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39696"/>
            <a:ext cx="4526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0A0A0B"/>
                </a:solidFill>
                <a:latin typeface="IBM Plex Sans"/>
              </a:rPr>
              <a:t>Academia nueva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50592"/>
            <a:ext cx="457200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666668"/>
                </a:solidFill>
                <a:latin typeface="IBM Plex Sans"/>
              </a:rPr>
              <a:t>Sitio, landing y experiencia de inscripción sin depender del WordPress actual.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1975104"/>
            <a:ext cx="5074920" cy="950976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975104"/>
            <a:ext cx="54864" cy="950976"/>
          </a:xfrm>
          <a:prstGeom prst="rect">
            <a:avLst/>
          </a:prstGeom>
          <a:solidFill>
            <a:srgbClr val="2D2D2F"/>
          </a:solidFill>
          <a:ln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2139696"/>
            <a:ext cx="4526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0A0A0B"/>
                </a:solidFill>
                <a:latin typeface="IBM Plex Sans"/>
              </a:rPr>
              <a:t>Cursos y acceso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450592"/>
            <a:ext cx="457200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666668"/>
                </a:solidFill>
                <a:latin typeface="IBM Plex Sans"/>
              </a:rPr>
              <a:t>Contenido organizado, registro de alumnos y acceso controlado.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3200400"/>
            <a:ext cx="5074920" cy="950976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" y="3200400"/>
            <a:ext cx="54864" cy="950976"/>
          </a:xfrm>
          <a:prstGeom prst="rect">
            <a:avLst/>
          </a:prstGeom>
          <a:solidFill>
            <a:srgbClr val="FF4402"/>
          </a:solidFill>
          <a:ln>
            <a:solidFill>
              <a:srgbClr val="FF44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364992"/>
            <a:ext cx="4526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0A0A0B"/>
                </a:solidFill>
                <a:latin typeface="IBM Plex Sans"/>
              </a:rPr>
              <a:t>Pagos con Square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675887"/>
            <a:ext cx="457200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666668"/>
                </a:solidFill>
                <a:latin typeface="IBM Plex Sans"/>
              </a:rPr>
              <a:t>Se conserva la cuenta de pagos que Derma.M ya utiliza.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3200400"/>
            <a:ext cx="5074920" cy="950976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8776" y="3200400"/>
            <a:ext cx="54864" cy="950976"/>
          </a:xfrm>
          <a:prstGeom prst="rect">
            <a:avLst/>
          </a:prstGeom>
          <a:solidFill>
            <a:srgbClr val="2D2D2F"/>
          </a:solidFill>
          <a:ln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3364992"/>
            <a:ext cx="4526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0A0A0B"/>
                </a:solidFill>
                <a:latin typeface="IBM Plex Sans"/>
              </a:rPr>
              <a:t>WhatsApp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675887"/>
            <a:ext cx="457200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666668"/>
                </a:solidFill>
                <a:latin typeface="IBM Plex Sans"/>
              </a:rPr>
              <a:t>Canal de comunicación conectado al CRM para responder y dar seguimiento.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" y="4425696"/>
            <a:ext cx="5074920" cy="950976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656" y="4425696"/>
            <a:ext cx="54864" cy="950976"/>
          </a:xfrm>
          <a:prstGeom prst="rect">
            <a:avLst/>
          </a:prstGeom>
          <a:solidFill>
            <a:srgbClr val="FF4402"/>
          </a:solidFill>
          <a:ln>
            <a:solidFill>
              <a:srgbClr val="FF44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590288"/>
            <a:ext cx="4526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0A0A0B"/>
                </a:solidFill>
                <a:latin typeface="IBM Plex Sans"/>
              </a:rPr>
              <a:t>Automatizaciones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901183"/>
            <a:ext cx="457200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666668"/>
                </a:solidFill>
                <a:latin typeface="IBM Plex Sans"/>
              </a:rPr>
              <a:t>Confirmación, onboarding, recordatorios y soporte básico.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08776" y="4425696"/>
            <a:ext cx="5074920" cy="950976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8776" y="4425696"/>
            <a:ext cx="54864" cy="950976"/>
          </a:xfrm>
          <a:prstGeom prst="rect">
            <a:avLst/>
          </a:prstGeom>
          <a:solidFill>
            <a:srgbClr val="2D2D2F"/>
          </a:solidFill>
          <a:ln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4590288"/>
            <a:ext cx="4526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0A0A0B"/>
                </a:solidFill>
                <a:latin typeface="IBM Plex Sans"/>
              </a:rPr>
              <a:t>Base transferible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901183"/>
            <a:ext cx="457200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666668"/>
                </a:solidFill>
                <a:latin typeface="IBM Plex Sans"/>
              </a:rPr>
              <a:t>El dominio, contenido, datos y Square permanecen bajo control de Derma.M.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pathoai-master-logo-light-tr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2608"/>
            <a:ext cx="1389888" cy="221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35440" y="356616"/>
            <a:ext cx="2331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850" b="1" i="0">
                <a:solidFill>
                  <a:srgbClr val="FF4402"/>
                </a:solidFill>
                <a:latin typeface="IBM Plex Sans"/>
              </a:rPr>
              <a:t>04 / OPCIÓN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 i="0">
                <a:solidFill>
                  <a:srgbClr val="0A0A0B"/>
                </a:solidFill>
                <a:latin typeface="IBM Plex Sans"/>
              </a:rPr>
              <a:t>Cuenta propia de Derma.M.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881360" cy="10972"/>
          </a:xfrm>
          <a:prstGeom prst="rect">
            <a:avLst/>
          </a:prstGeom>
          <a:solidFill>
            <a:srgbClr val="E5E5EA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666668"/>
                </a:solidFill>
                <a:latin typeface="IBM Plex Sans"/>
              </a:rPr>
              <a:t>DERMA.M ACADEMY  / 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473952"/>
            <a:ext cx="299923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 i="0">
                <a:solidFill>
                  <a:srgbClr val="666668"/>
                </a:solidFill>
                <a:latin typeface="IBM Plex Sans"/>
              </a:rPr>
              <a:t>HUMAN DEPTH. MACHINE LEVERAGE.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1920240"/>
            <a:ext cx="1508760" cy="274320"/>
          </a:xfrm>
          <a:prstGeom prst="rect">
            <a:avLst/>
          </a:prstGeom>
          <a:solidFill>
            <a:srgbClr val="FFF0EB"/>
          </a:solidFill>
          <a:ln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75104"/>
            <a:ext cx="132588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FF4402"/>
                </a:solidFill>
                <a:latin typeface="IBM Plex Sans"/>
              </a:rPr>
              <a:t>MAYOR AUTONOMÍA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359152"/>
            <a:ext cx="640080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 i="0">
                <a:solidFill>
                  <a:srgbClr val="0A0A0B"/>
                </a:solidFill>
                <a:latin typeface="IBM Plex Sans"/>
              </a:rPr>
              <a:t>La cuenta de GHL, el dominio, Square y los activos quedan directamente bajo Derma.M.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874519"/>
            <a:ext cx="3520440" cy="1938528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2212848"/>
            <a:ext cx="237744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IBM Plex Sans"/>
              </a:rPr>
              <a:t>$117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990088"/>
            <a:ext cx="246888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C8C8C8"/>
                </a:solidFill>
                <a:latin typeface="IBM Plex Sans"/>
              </a:rPr>
              <a:t>/ mes de plataforma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11312" y="3438144"/>
            <a:ext cx="2560320" cy="45720"/>
          </a:xfrm>
          <a:prstGeom prst="rect">
            <a:avLst/>
          </a:prstGeom>
          <a:solidFill>
            <a:srgbClr val="FF4402"/>
          </a:solidFill>
          <a:ln>
            <a:solidFill>
              <a:srgbClr val="FF44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3566160"/>
            <a:ext cx="27889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IBM Plex Sans"/>
              </a:rPr>
              <a:t>GHL $97  +  WhatsApp $20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10128"/>
            <a:ext cx="6400800" cy="1325880"/>
          </a:xfrm>
          <a:prstGeom prst="rect">
            <a:avLst/>
          </a:prstGeom>
          <a:noFill/>
        </p:spPr>
        <p:txBody>
          <a:bodyPr wrap="square" lIns="36576" rIns="18288">
            <a:spAutoFit/>
          </a:bodyPr>
          <a:lstStyle/>
          <a:p>
            <a:pPr>
              <a:spcAft>
                <a:spcPts val="936"/>
              </a:spcAft>
              <a:defRPr sz="1500">
                <a:solidFill>
                  <a:srgbClr val="0A0A0B"/>
                </a:solidFill>
                <a:latin typeface="IBM Plex Sans"/>
              </a:defRPr>
            </a:pPr>
            <a:r>
              <a:rPr>
                <a:solidFill>
                  <a:srgbClr val="FF4402"/>
                </a:solidFill>
              </a:rPr>
              <a:t>■  Más control y menor dependencia de EmpathoAI.</a:t>
            </a:r>
          </a:p>
          <a:p>
            <a:pPr>
              <a:spcAft>
                <a:spcPts val="936"/>
              </a:spcAft>
              <a:defRPr sz="1500">
                <a:solidFill>
                  <a:srgbClr val="0A0A0B"/>
                </a:solidFill>
                <a:latin typeface="IBM Plex Sans"/>
              </a:defRPr>
            </a:pPr>
            <a:r>
              <a:rPr>
                <a:solidFill>
                  <a:srgbClr val="FF4402"/>
                </a:solidFill>
              </a:rPr>
              <a:t>■  La cliente asume directamente el costo mensual.</a:t>
            </a:r>
          </a:p>
          <a:p>
            <a:pPr>
              <a:spcAft>
                <a:spcPts val="936"/>
              </a:spcAft>
              <a:defRPr sz="1500">
                <a:solidFill>
                  <a:srgbClr val="0A0A0B"/>
                </a:solidFill>
                <a:latin typeface="IBM Plex Sans"/>
              </a:defRPr>
            </a:pPr>
            <a:r>
              <a:rPr>
                <a:solidFill>
                  <a:srgbClr val="FF4402"/>
                </a:solidFill>
              </a:rPr>
              <a:t>■  Recomendable si quiere administrar el sistema internamente.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5440680"/>
            <a:ext cx="7315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1">
                <a:solidFill>
                  <a:srgbClr val="666668"/>
                </a:solidFill>
                <a:latin typeface="IBM Plex Sans"/>
              </a:rPr>
              <a:t>No incluye tarifas de Square ni consumos variables de mensajería/IA.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pathoai-master-logo-light-tr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2608"/>
            <a:ext cx="1389888" cy="221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35440" y="356616"/>
            <a:ext cx="2331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850" b="1" i="0">
                <a:solidFill>
                  <a:srgbClr val="FF4402"/>
                </a:solidFill>
                <a:latin typeface="IBM Plex Sans"/>
              </a:rPr>
              <a:t>05 / OPCIÓN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 i="0">
                <a:solidFill>
                  <a:srgbClr val="0A0A0B"/>
                </a:solidFill>
                <a:latin typeface="IBM Plex Sans"/>
              </a:rPr>
              <a:t>Plataforma administrada por EmpathoAI.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881360" cy="10972"/>
          </a:xfrm>
          <a:prstGeom prst="rect">
            <a:avLst/>
          </a:prstGeom>
          <a:solidFill>
            <a:srgbClr val="E5E5EA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666668"/>
                </a:solidFill>
                <a:latin typeface="IBM Plex Sans"/>
              </a:rPr>
              <a:t>DERMA.M ACADEMY  / 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473952"/>
            <a:ext cx="299923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 i="0">
                <a:solidFill>
                  <a:srgbClr val="666668"/>
                </a:solidFill>
                <a:latin typeface="IBM Plex Sans"/>
              </a:rPr>
              <a:t>HUMAN DEPTH. MACHINE LEVERAGE.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1920240"/>
            <a:ext cx="1325880" cy="274320"/>
          </a:xfrm>
          <a:prstGeom prst="rect">
            <a:avLst/>
          </a:prstGeom>
          <a:solidFill>
            <a:srgbClr val="FFF0EB"/>
          </a:solidFill>
          <a:ln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75104"/>
            <a:ext cx="114300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FF4402"/>
                </a:solidFill>
                <a:latin typeface="IBM Plex Sans"/>
              </a:rPr>
              <a:t>MENOR 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359152"/>
            <a:ext cx="653796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 i="0">
                <a:solidFill>
                  <a:srgbClr val="0A0A0B"/>
                </a:solidFill>
                <a:latin typeface="IBM Plex Sans"/>
              </a:rPr>
              <a:t>EmpathoAI aloja y administra la infraestructura. Derma.M paga solo los servicios variables acordados.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874519"/>
            <a:ext cx="3520440" cy="1938528"/>
          </a:xfrm>
          <a:prstGeom prst="rect">
            <a:avLst/>
          </a:prstGeom>
          <a:solidFill>
            <a:srgbClr val="FFF0EB"/>
          </a:solidFill>
          <a:ln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2212848"/>
            <a:ext cx="256032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4200" b="1" i="0">
                <a:solidFill>
                  <a:srgbClr val="0A0A0B"/>
                </a:solidFill>
                <a:latin typeface="IBM Plex Sans"/>
              </a:rPr>
              <a:t>≈ $39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990088"/>
            <a:ext cx="246888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666668"/>
                </a:solidFill>
                <a:latin typeface="IBM Plex Sans"/>
              </a:rPr>
              <a:t>/ mes estimados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11312" y="3438144"/>
            <a:ext cx="2560320" cy="45720"/>
          </a:xfrm>
          <a:prstGeom prst="rect">
            <a:avLst/>
          </a:prstGeom>
          <a:solidFill>
            <a:srgbClr val="FF4402"/>
          </a:solidFill>
          <a:ln>
            <a:solidFill>
              <a:srgbClr val="FF44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3566160"/>
            <a:ext cx="285292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0A0A0B"/>
                </a:solidFill>
                <a:latin typeface="IBM Plex Sans"/>
              </a:rPr>
              <a:t>GoGHL $29  +  IA estimada $10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10128"/>
            <a:ext cx="6400800" cy="1600200"/>
          </a:xfrm>
          <a:prstGeom prst="rect">
            <a:avLst/>
          </a:prstGeom>
          <a:noFill/>
        </p:spPr>
        <p:txBody>
          <a:bodyPr wrap="square" lIns="36576" rIns="18288">
            <a:spAutoFit/>
          </a:bodyPr>
          <a:lstStyle/>
          <a:p>
            <a:pPr>
              <a:spcAft>
                <a:spcPts val="936"/>
              </a:spcAft>
              <a:defRPr sz="1500">
                <a:solidFill>
                  <a:srgbClr val="0A0A0B"/>
                </a:solidFill>
                <a:latin typeface="IBM Plex Sans"/>
              </a:defRPr>
            </a:pPr>
            <a:r>
              <a:rPr>
                <a:solidFill>
                  <a:srgbClr val="FF4402"/>
                </a:solidFill>
              </a:rPr>
              <a:t>■  Menor costo visible para Derma.M.</a:t>
            </a:r>
          </a:p>
          <a:p>
            <a:pPr>
              <a:spcAft>
                <a:spcPts val="936"/>
              </a:spcAft>
              <a:defRPr sz="1500">
                <a:solidFill>
                  <a:srgbClr val="0A0A0B"/>
                </a:solidFill>
                <a:latin typeface="IBM Plex Sans"/>
              </a:defRPr>
            </a:pPr>
            <a:r>
              <a:rPr>
                <a:solidFill>
                  <a:srgbClr val="FF4402"/>
                </a:solidFill>
              </a:rPr>
              <a:t>■  Implementación y operación centralizadas.</a:t>
            </a:r>
          </a:p>
          <a:p>
            <a:pPr>
              <a:spcAft>
                <a:spcPts val="936"/>
              </a:spcAft>
              <a:defRPr sz="1500">
                <a:solidFill>
                  <a:srgbClr val="0A0A0B"/>
                </a:solidFill>
                <a:latin typeface="IBM Plex Sans"/>
              </a:defRPr>
            </a:pPr>
            <a:r>
              <a:rPr>
                <a:solidFill>
                  <a:srgbClr val="FF4402"/>
                </a:solidFill>
              </a:rPr>
              <a:t>■  EmpathoAI mantiene la responsabilidad técnica.</a:t>
            </a:r>
          </a:p>
          <a:p>
            <a:pPr>
              <a:spcAft>
                <a:spcPts val="936"/>
              </a:spcAft>
              <a:defRPr sz="1500">
                <a:solidFill>
                  <a:srgbClr val="0A0A0B"/>
                </a:solidFill>
                <a:latin typeface="IBM Plex Sans"/>
              </a:defRPr>
            </a:pPr>
            <a:r>
              <a:rPr>
                <a:solidFill>
                  <a:srgbClr val="FF4402"/>
                </a:solidFill>
              </a:rPr>
              <a:t>■  El uso de IA es estimado, no un precio fijo garantizado.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5440680"/>
            <a:ext cx="78638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1">
                <a:solidFill>
                  <a:srgbClr val="666668"/>
                </a:solidFill>
                <a:latin typeface="IBM Plex Sans"/>
              </a:rPr>
              <a:t>La cuenta y los activos de Derma.M deben mantenerse identificables y transferibles.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pathoai-master-logo-light-tr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2608"/>
            <a:ext cx="1389888" cy="221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35440" y="356616"/>
            <a:ext cx="2331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850" b="1" i="0">
                <a:solidFill>
                  <a:srgbClr val="FF4402"/>
                </a:solidFill>
                <a:latin typeface="IBM Plex Sans"/>
              </a:rPr>
              <a:t>06 /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 i="0">
                <a:solidFill>
                  <a:srgbClr val="0A0A0B"/>
                </a:solidFill>
                <a:latin typeface="IBM Plex Sans"/>
              </a:rPr>
              <a:t>Dos modelos. Una misma academia.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881360" cy="10972"/>
          </a:xfrm>
          <a:prstGeom prst="rect">
            <a:avLst/>
          </a:prstGeom>
          <a:solidFill>
            <a:srgbClr val="E5E5EA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666668"/>
                </a:solidFill>
                <a:latin typeface="IBM Plex Sans"/>
              </a:rPr>
              <a:t>DERMA.M ACADEMY  / 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473952"/>
            <a:ext cx="299923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 i="0">
                <a:solidFill>
                  <a:srgbClr val="666668"/>
                </a:solidFill>
                <a:latin typeface="IBM Plex Sans"/>
              </a:rPr>
              <a:t>HUMAN DEPTH. MACHINE LEVERAGE.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1965960"/>
            <a:ext cx="2788920" cy="512064"/>
          </a:xfrm>
          <a:prstGeom prst="rect">
            <a:avLst/>
          </a:prstGeom>
          <a:solidFill>
            <a:srgbClr val="2D2D2F"/>
          </a:solidFill>
          <a:ln>
            <a:solidFill>
              <a:srgbClr val="2D2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12264"/>
            <a:ext cx="2496312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Criterio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5576" y="1965960"/>
            <a:ext cx="3246120" cy="512064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112264"/>
            <a:ext cx="2953512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Cuenta propia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11696" y="1965960"/>
            <a:ext cx="3246120" cy="512064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112264"/>
            <a:ext cx="2953512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BM Plex Sans"/>
              </a:rPr>
              <a:t>Administrada por EmpathoAI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2478024"/>
            <a:ext cx="2788920" cy="621792"/>
          </a:xfrm>
          <a:prstGeom prst="rect">
            <a:avLst/>
          </a:prstGeom>
          <a:solidFill>
            <a:srgbClr val="F7F7F5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660904"/>
            <a:ext cx="249631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A0A0B"/>
                </a:solidFill>
                <a:latin typeface="IBM Plex Sans"/>
              </a:rPr>
              <a:t>Costo visible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5576" y="2478024"/>
            <a:ext cx="3246120" cy="621792"/>
          </a:xfrm>
          <a:prstGeom prst="rect">
            <a:avLst/>
          </a:prstGeom>
          <a:solidFill>
            <a:srgbClr val="F7F7F5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2660904"/>
            <a:ext cx="295351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0A0A0B"/>
                </a:solidFill>
                <a:latin typeface="IBM Plex Sans"/>
              </a:rPr>
              <a:t>$117/mes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11696" y="2478024"/>
            <a:ext cx="3246120" cy="621792"/>
          </a:xfrm>
          <a:prstGeom prst="rect">
            <a:avLst/>
          </a:prstGeom>
          <a:solidFill>
            <a:srgbClr val="F7F7F5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660904"/>
            <a:ext cx="295351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2D2D2F"/>
                </a:solidFill>
                <a:latin typeface="IBM Plex Sans"/>
              </a:rPr>
              <a:t>≈ $39/mes estimados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" y="3099816"/>
            <a:ext cx="27889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282696"/>
            <a:ext cx="249631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A0A0B"/>
                </a:solidFill>
                <a:latin typeface="IBM Plex Sans"/>
              </a:rPr>
              <a:t>Control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65576" y="3099816"/>
            <a:ext cx="3246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3282696"/>
            <a:ext cx="295351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0A0A0B"/>
                </a:solidFill>
                <a:latin typeface="IBM Plex Sans"/>
              </a:rPr>
              <a:t>Directo de Derma.M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11696" y="3099816"/>
            <a:ext cx="3246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3282696"/>
            <a:ext cx="295351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2D2D2F"/>
                </a:solidFill>
                <a:latin typeface="IBM Plex Sans"/>
              </a:rPr>
              <a:t>Gestionado por EmpathoAI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" y="3721608"/>
            <a:ext cx="2788920" cy="621792"/>
          </a:xfrm>
          <a:prstGeom prst="rect">
            <a:avLst/>
          </a:prstGeom>
          <a:solidFill>
            <a:srgbClr val="F7F7F5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904488"/>
            <a:ext cx="249631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A0A0B"/>
                </a:solidFill>
                <a:latin typeface="IBM Plex Sans"/>
              </a:rPr>
              <a:t>Responsabilidad técnica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65576" y="3721608"/>
            <a:ext cx="3246120" cy="621792"/>
          </a:xfrm>
          <a:prstGeom prst="rect">
            <a:avLst/>
          </a:prstGeom>
          <a:solidFill>
            <a:srgbClr val="F7F7F5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3904488"/>
            <a:ext cx="295351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0A0A0B"/>
                </a:solidFill>
                <a:latin typeface="IBM Plex Sans"/>
              </a:rPr>
              <a:t>Derma.M / su equipo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11696" y="3721608"/>
            <a:ext cx="3246120" cy="621792"/>
          </a:xfrm>
          <a:prstGeom prst="rect">
            <a:avLst/>
          </a:prstGeom>
          <a:solidFill>
            <a:srgbClr val="F7F7F5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3904488"/>
            <a:ext cx="295351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2D2D2F"/>
                </a:solidFill>
                <a:latin typeface="IBM Plex Sans"/>
              </a:rPr>
              <a:t>EmpathoAI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" y="4343400"/>
            <a:ext cx="27889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526280"/>
            <a:ext cx="249631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A0A0B"/>
                </a:solidFill>
                <a:latin typeface="IBM Plex Sans"/>
              </a:rPr>
              <a:t>Dependencia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65576" y="4343400"/>
            <a:ext cx="3246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1880" y="4526280"/>
            <a:ext cx="295351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0A0A0B"/>
                </a:solidFill>
                <a:latin typeface="IBM Plex Sans"/>
              </a:rPr>
              <a:t>Menor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11696" y="4343400"/>
            <a:ext cx="3246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4526280"/>
            <a:ext cx="295351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2D2D2F"/>
                </a:solidFill>
                <a:latin typeface="IBM Plex Sans"/>
              </a:rPr>
              <a:t>Mayor, con acuerdo claro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" y="4965192"/>
            <a:ext cx="2788920" cy="621792"/>
          </a:xfrm>
          <a:prstGeom prst="rect">
            <a:avLst/>
          </a:prstGeom>
          <a:solidFill>
            <a:srgbClr val="F7F7F5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148072"/>
            <a:ext cx="249631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A0A0B"/>
                </a:solidFill>
                <a:latin typeface="IBM Plex Sans"/>
              </a:rPr>
              <a:t>Recomendación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65576" y="4965192"/>
            <a:ext cx="3246120" cy="621792"/>
          </a:xfrm>
          <a:prstGeom prst="rect">
            <a:avLst/>
          </a:prstGeom>
          <a:solidFill>
            <a:srgbClr val="F7F7F5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80" y="5148072"/>
            <a:ext cx="295351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A0A0B"/>
                </a:solidFill>
                <a:latin typeface="IBM Plex Sans"/>
              </a:rPr>
              <a:t>Si quiere autonomía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11696" y="4965192"/>
            <a:ext cx="3246120" cy="621792"/>
          </a:xfrm>
          <a:prstGeom prst="rect">
            <a:avLst/>
          </a:prstGeom>
          <a:solidFill>
            <a:srgbClr val="F7F7F5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5148072"/>
            <a:ext cx="295351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2D2D2F"/>
                </a:solidFill>
                <a:latin typeface="IBM Plex Sans"/>
              </a:rPr>
              <a:t>Si prioriza entrada baja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656" y="5742432"/>
            <a:ext cx="1536192" cy="274320"/>
          </a:xfrm>
          <a:prstGeom prst="rect">
            <a:avLst/>
          </a:prstGeom>
          <a:solidFill>
            <a:srgbClr val="FFF0EB"/>
          </a:solidFill>
          <a:ln>
            <a:solidFill>
              <a:srgbClr val="FF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" y="5797296"/>
            <a:ext cx="1353312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1" i="0">
                <a:solidFill>
                  <a:srgbClr val="FF4402"/>
                </a:solidFill>
                <a:latin typeface="IBM Plex Sans"/>
              </a:rPr>
              <a:t>MI RECOMENDACIÓN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95728" y="5742432"/>
            <a:ext cx="89611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 i="0">
                <a:solidFill>
                  <a:srgbClr val="0A0A0B"/>
                </a:solidFill>
                <a:latin typeface="IBM Plex Sans"/>
              </a:rPr>
              <a:t>Presentar ambas. Recomendar la opción administrada para validar rápido y reducir fricción inicial, con una ruta de transferencia documentada.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mpathoai-master-logo-light-tr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2608"/>
            <a:ext cx="1389888" cy="221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235440" y="356616"/>
            <a:ext cx="2331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850" b="1" i="0">
                <a:solidFill>
                  <a:srgbClr val="FF4402"/>
                </a:solidFill>
                <a:latin typeface="IBM Plex Sans"/>
              </a:rPr>
              <a:t>07 / SIGUIENTE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32688"/>
            <a:ext cx="1088136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900" b="1" i="0">
                <a:solidFill>
                  <a:srgbClr val="0A0A0B"/>
                </a:solidFill>
                <a:latin typeface="IBM Plex Sans"/>
              </a:rPr>
              <a:t>Validar antes de lanzar.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881360" cy="10972"/>
          </a:xfrm>
          <a:prstGeom prst="rect">
            <a:avLst/>
          </a:prstGeom>
          <a:solidFill>
            <a:srgbClr val="E5E5EA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36576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666668"/>
                </a:solidFill>
                <a:latin typeface="IBM Plex Sans"/>
              </a:rPr>
              <a:t>DERMA.M ACADEMY  / 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473952"/>
            <a:ext cx="299923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1" i="0">
                <a:solidFill>
                  <a:srgbClr val="666668"/>
                </a:solidFill>
                <a:latin typeface="IBM Plex Sans"/>
              </a:rPr>
              <a:t>HUMAN DEPTH. MACHINE LEVERAGE.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01952"/>
            <a:ext cx="10058400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0" i="0">
                <a:solidFill>
                  <a:srgbClr val="666668"/>
                </a:solidFill>
                <a:latin typeface="IBM Plex Sans"/>
              </a:rPr>
              <a:t>La decisión no debe basarse solo en el precio. Primero hay que probar el flujo completo con las cuentas reales.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24912"/>
            <a:ext cx="4892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0976" y="2880360"/>
            <a:ext cx="219456" cy="219456"/>
          </a:xfrm>
          <a:prstGeom prst="rect">
            <a:avLst/>
          </a:prstGeom>
          <a:solidFill>
            <a:srgbClr val="FF4402"/>
          </a:solidFill>
          <a:ln>
            <a:solidFill>
              <a:srgbClr val="FF44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862072"/>
            <a:ext cx="182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BM Plex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2871216"/>
            <a:ext cx="4160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 i="0">
                <a:solidFill>
                  <a:srgbClr val="0A0A0B"/>
                </a:solidFill>
                <a:latin typeface="IBM Plex Sans"/>
              </a:rPr>
              <a:t>Crear la nueva estructura en GHL.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504" y="2724912"/>
            <a:ext cx="4892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83096" y="2880360"/>
            <a:ext cx="219456" cy="219456"/>
          </a:xfrm>
          <a:prstGeom prst="rect">
            <a:avLst/>
          </a:prstGeom>
          <a:solidFill>
            <a:srgbClr val="FF4402"/>
          </a:solidFill>
          <a:ln>
            <a:solidFill>
              <a:srgbClr val="FF44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2862072"/>
            <a:ext cx="182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BM Plex San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144" y="2871216"/>
            <a:ext cx="4160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 i="0">
                <a:solidFill>
                  <a:srgbClr val="0A0A0B"/>
                </a:solidFill>
                <a:latin typeface="IBM Plex Sans"/>
              </a:rPr>
              <a:t>Conectar Square de Derma.M.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3511296"/>
            <a:ext cx="4892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" y="3666744"/>
            <a:ext cx="219456" cy="219456"/>
          </a:xfrm>
          <a:prstGeom prst="rect">
            <a:avLst/>
          </a:prstGeom>
          <a:solidFill>
            <a:srgbClr val="FF4402"/>
          </a:solidFill>
          <a:ln>
            <a:solidFill>
              <a:srgbClr val="FF44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648456"/>
            <a:ext cx="182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BM Plex San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657600"/>
            <a:ext cx="4160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 i="0">
                <a:solidFill>
                  <a:srgbClr val="0A0A0B"/>
                </a:solidFill>
                <a:latin typeface="IBM Plex Sans"/>
              </a:rPr>
              <a:t>Migrar y ordenar el contenido del curso.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18504" y="3511296"/>
            <a:ext cx="4892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83096" y="3666744"/>
            <a:ext cx="219456" cy="219456"/>
          </a:xfrm>
          <a:prstGeom prst="rect">
            <a:avLst/>
          </a:prstGeom>
          <a:solidFill>
            <a:srgbClr val="FF4402"/>
          </a:solidFill>
          <a:ln>
            <a:solidFill>
              <a:srgbClr val="FF44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4" y="3648456"/>
            <a:ext cx="182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BM Plex San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144" y="3657600"/>
            <a:ext cx="4160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 i="0">
                <a:solidFill>
                  <a:srgbClr val="0A0A0B"/>
                </a:solidFill>
                <a:latin typeface="IBM Plex Sans"/>
              </a:rPr>
              <a:t>Probar compra, acceso, reembolso y revocación.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4297680"/>
            <a:ext cx="4892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976" y="4453128"/>
            <a:ext cx="219456" cy="219456"/>
          </a:xfrm>
          <a:prstGeom prst="rect">
            <a:avLst/>
          </a:prstGeom>
          <a:solidFill>
            <a:srgbClr val="FF4402"/>
          </a:solidFill>
          <a:ln>
            <a:solidFill>
              <a:srgbClr val="FF44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4434840"/>
            <a:ext cx="182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BM Plex San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5024" y="4443984"/>
            <a:ext cx="4160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 i="0">
                <a:solidFill>
                  <a:srgbClr val="0A0A0B"/>
                </a:solidFill>
                <a:latin typeface="IBM Plex Sans"/>
              </a:rPr>
              <a:t>Configurar WhatsApp y respuestas básicas.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18504" y="4297680"/>
            <a:ext cx="4892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83096" y="4453128"/>
            <a:ext cx="219456" cy="219456"/>
          </a:xfrm>
          <a:prstGeom prst="rect">
            <a:avLst/>
          </a:prstGeom>
          <a:solidFill>
            <a:srgbClr val="FF4402"/>
          </a:solidFill>
          <a:ln>
            <a:solidFill>
              <a:srgbClr val="FF44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1384" y="4434840"/>
            <a:ext cx="182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BM Plex San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7144" y="4443984"/>
            <a:ext cx="4160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0" i="0">
                <a:solidFill>
                  <a:srgbClr val="0A0A0B"/>
                </a:solidFill>
                <a:latin typeface="IBM Plex Sans"/>
              </a:rPr>
              <a:t>Definir propiedad, soporte y transferencia.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" y="5376672"/>
            <a:ext cx="10835640" cy="640080"/>
          </a:xfrm>
          <a:prstGeom prst="rect">
            <a:avLst/>
          </a:prstGeom>
          <a:solidFill>
            <a:srgbClr val="0A0A0B"/>
          </a:solidFill>
          <a:ln>
            <a:solidFill>
              <a:srgbClr val="0A0A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5559552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 i="0">
                <a:solidFill>
                  <a:srgbClr val="FF4402"/>
                </a:solidFill>
                <a:latin typeface="IBM Plex Sans"/>
              </a:rPr>
              <a:t>Decisión solicitada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87752" y="5541264"/>
            <a:ext cx="818387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BM Plex Sans"/>
              </a:rPr>
              <a:t>Elegir el modelo de cuenta y autorizar la prueba de producción.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6144768"/>
            <a:ext cx="102412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1">
                <a:solidFill>
                  <a:srgbClr val="666668"/>
                </a:solidFill>
                <a:latin typeface="IBM Plex Sans"/>
              </a:rPr>
              <a:t>Costos mostrados: estimaciones de plataforma compartidas para esta propuesta. Square y consumos variables se facturan aparte.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